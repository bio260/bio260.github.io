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97" r:id="rId5"/>
    <p:sldId id="256" r:id="rId6"/>
    <p:sldId id="257" r:id="rId7"/>
    <p:sldId id="258" r:id="rId8"/>
    <p:sldId id="259" r:id="rId9"/>
    <p:sldId id="260" r:id="rId10"/>
    <p:sldId id="264" r:id="rId11"/>
    <p:sldId id="266" r:id="rId12"/>
    <p:sldId id="267" r:id="rId13"/>
    <p:sldId id="269" r:id="rId14"/>
    <p:sldId id="271" r:id="rId15"/>
    <p:sldId id="261" r:id="rId16"/>
    <p:sldId id="270"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AF0EC8-2868-4A6B-A025-958AFF65113E}" v="1" dt="2021-07-06T21:51:53.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58" autoAdjust="0"/>
  </p:normalViewPr>
  <p:slideViewPr>
    <p:cSldViewPr>
      <p:cViewPr varScale="1">
        <p:scale>
          <a:sx n="121" d="100"/>
          <a:sy n="121" d="100"/>
        </p:scale>
        <p:origin x="190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F8FD25-2496-4B4B-AEBF-32B60A0DD5C7}"/>
              </a:ext>
            </a:extLst>
          </p:cNvPr>
          <p:cNvSpPr>
            <a:spLocks noGrp="1"/>
          </p:cNvSpPr>
          <p:nvPr>
            <p:ph type="ctrTitle"/>
          </p:nvPr>
        </p:nvSpPr>
        <p:spPr>
          <a:xfrm>
            <a:off x="1143000" y="1173773"/>
            <a:ext cx="6858000" cy="772899"/>
          </a:xfrm>
        </p:spPr>
        <p:txBody>
          <a:bodyPr/>
          <a:lstStyle/>
          <a:p>
            <a:r>
              <a:rPr lang="en-US" dirty="0"/>
              <a:t>Eosin-Methylene Blue</a:t>
            </a:r>
          </a:p>
        </p:txBody>
      </p:sp>
      <p:sp>
        <p:nvSpPr>
          <p:cNvPr id="5" name="Subtitle 4">
            <a:extLst>
              <a:ext uri="{FF2B5EF4-FFF2-40B4-BE49-F238E27FC236}">
                <a16:creationId xmlns:a16="http://schemas.microsoft.com/office/drawing/2014/main" id="{30F41ECA-9228-406F-90E9-DC73B060550C}"/>
              </a:ext>
            </a:extLst>
          </p:cNvPr>
          <p:cNvSpPr>
            <a:spLocks noGrp="1"/>
          </p:cNvSpPr>
          <p:nvPr>
            <p:ph type="subTitle" idx="1"/>
          </p:nvPr>
        </p:nvSpPr>
        <p:spPr>
          <a:xfrm>
            <a:off x="1143000" y="5063316"/>
            <a:ext cx="6858000" cy="1241822"/>
          </a:xfrm>
        </p:spPr>
        <p:txBody>
          <a:bodyPr/>
          <a:lstStyle/>
          <a:p>
            <a:r>
              <a:rPr lang="en-US" dirty="0">
                <a:solidFill>
                  <a:schemeClr val="tx1"/>
                </a:solidFill>
              </a:rPr>
              <a:t>Citation: 2007. Eosin-methylene blue.</a:t>
            </a:r>
          </a:p>
          <a:p>
            <a:r>
              <a:rPr lang="en-US" dirty="0">
                <a:solidFill>
                  <a:schemeClr val="tx1"/>
                </a:solidFill>
              </a:rPr>
              <a:t>Publication Date: September 2007</a:t>
            </a:r>
          </a:p>
          <a:p>
            <a:endParaRPr lang="en-US" dirty="0">
              <a:solidFill>
                <a:schemeClr val="tx1"/>
              </a:solidFill>
            </a:endParaRPr>
          </a:p>
        </p:txBody>
      </p:sp>
    </p:spTree>
    <p:extLst>
      <p:ext uri="{BB962C8B-B14F-4D97-AF65-F5344CB8AC3E}">
        <p14:creationId xmlns:p14="http://schemas.microsoft.com/office/powerpoint/2010/main" val="2615752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20650"/>
            <a:ext cx="5080000" cy="5346700"/>
          </a:xfrm>
          <a:prstGeom prst="rect">
            <a:avLst/>
          </a:prstGeom>
        </p:spPr>
      </p:pic>
      <p:sp>
        <p:nvSpPr>
          <p:cNvPr id="3" name="TextBox 2"/>
          <p:cNvSpPr txBox="1"/>
          <p:nvPr/>
        </p:nvSpPr>
        <p:spPr>
          <a:xfrm>
            <a:off x="635000" y="5467350"/>
            <a:ext cx="7937500" cy="5080000"/>
          </a:xfrm>
          <a:prstGeom prst="rect">
            <a:avLst/>
          </a:prstGeom>
        </p:spPr>
        <p:txBody>
          <a:bodyPr rtlCol="0" anchor="t"/>
          <a:lstStyle/>
          <a:p>
            <a:pPr algn="l"/>
            <a:endParaRPr lang="en-US" sz="1000" dirty="0"/>
          </a:p>
          <a:p>
            <a:pPr lvl="0"/>
            <a:r>
              <a:rPr lang="en-US" sz="1000" dirty="0"/>
              <a:t>Escherichia coli on EMB (Enlarged view)</a:t>
            </a:r>
          </a:p>
          <a:p>
            <a:pPr lvl="0"/>
            <a:r>
              <a:rPr lang="en-US" sz="1000" dirty="0"/>
              <a:t>FIG. 1. Eosin-methylene blue (EMB) agar plate inoculated with Escherichia coli (a gram-negative coliform bacterium) showing good growth of dark blue-black colonies with metallic green sheen indicating vigorous fermentation of lactose and acid production which precipitates the green metallic pigment. (</a:t>
            </a:r>
            <a:r>
              <a:rPr lang="en-US" sz="1000" dirty="0" err="1"/>
              <a:t>Naowarat</a:t>
            </a:r>
            <a:r>
              <a:rPr lang="en-US" sz="1000" dirty="0"/>
              <a:t> </a:t>
            </a:r>
            <a:r>
              <a:rPr lang="en-US" sz="1000" dirty="0" err="1"/>
              <a:t>Cheeptham</a:t>
            </a:r>
            <a:r>
              <a:rPr lang="en-US" sz="1000" dirty="0"/>
              <a:t>, Thompson Rivers University, Kamloops, BC, Canada)</a:t>
            </a:r>
          </a:p>
        </p:txBody>
      </p:sp>
      <p:sp>
        <p:nvSpPr>
          <p:cNvPr id="4" name="TextBox 3"/>
          <p:cNvSpPr txBox="1"/>
          <p:nvPr/>
        </p:nvSpPr>
        <p:spPr>
          <a:xfrm>
            <a:off x="6350000" y="6218936"/>
            <a:ext cx="2540000" cy="635000"/>
          </a:xfrm>
          <a:prstGeom prst="rect">
            <a:avLst/>
          </a:prstGeom>
          <a:solidFill>
            <a:srgbClr val="FFFFFF"/>
          </a:solidFill>
        </p:spPr>
        <p:txBody>
          <a:bodyPr rtlCol="0" anchor="t"/>
          <a:lstStyle/>
          <a:p>
            <a:pPr algn="l"/>
            <a:endParaRPr lang="en-US" sz="1100" dirty="0"/>
          </a:p>
          <a:p>
            <a:pPr lvl="0"/>
            <a:r>
              <a:rPr lang="en-US" sz="1000" dirty="0"/>
              <a:t>American Society For Microbiology ©</a:t>
            </a:r>
          </a:p>
        </p:txBody>
      </p:sp>
      <p:sp>
        <p:nvSpPr>
          <p:cNvPr id="5" name="TextBox 4"/>
          <p:cNvSpPr txBox="1"/>
          <p:nvPr/>
        </p:nvSpPr>
        <p:spPr>
          <a:xfrm>
            <a:off x="635000" y="6604000"/>
            <a:ext cx="5080000" cy="635000"/>
          </a:xfrm>
          <a:prstGeom prst="rect">
            <a:avLst/>
          </a:prstGeom>
        </p:spPr>
        <p:txBody>
          <a:bodyPr rtlCol="0" anchor="t"/>
          <a:lstStyle/>
          <a:p>
            <a:pPr algn="l"/>
            <a:endParaRPr lang="en-US" sz="1100"/>
          </a:p>
          <a:p>
            <a:pPr lvl="0"/>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57400" y="120650"/>
            <a:ext cx="5080000" cy="5346700"/>
          </a:xfrm>
          <a:prstGeom prst="rect">
            <a:avLst/>
          </a:prstGeom>
        </p:spPr>
      </p:pic>
      <p:sp>
        <p:nvSpPr>
          <p:cNvPr id="3" name="TextBox 2"/>
          <p:cNvSpPr txBox="1"/>
          <p:nvPr/>
        </p:nvSpPr>
        <p:spPr>
          <a:xfrm>
            <a:off x="635000" y="5500878"/>
            <a:ext cx="7937500" cy="5080000"/>
          </a:xfrm>
          <a:prstGeom prst="rect">
            <a:avLst/>
          </a:prstGeom>
        </p:spPr>
        <p:txBody>
          <a:bodyPr rtlCol="0" anchor="t"/>
          <a:lstStyle/>
          <a:p>
            <a:pPr algn="l"/>
            <a:endParaRPr lang="en-US" sz="1000" dirty="0"/>
          </a:p>
          <a:p>
            <a:pPr lvl="0"/>
            <a:r>
              <a:rPr lang="en-US" sz="1000" dirty="0"/>
              <a:t>Enterobacter aerogenes on EMB (Enlarged view)</a:t>
            </a:r>
          </a:p>
          <a:p>
            <a:pPr lvl="0"/>
            <a:r>
              <a:rPr lang="en-US" sz="1000" dirty="0"/>
              <a:t>FIG. 2. EMB agar plate inoculated with Enterobacter aerogenes (a gram-negative coliform bacterium) showing good growth of brown, dark-centered, mucoid colonies indicating lactose fermentation and acid production. (</a:t>
            </a:r>
            <a:r>
              <a:rPr lang="en-US" sz="1000" dirty="0" err="1"/>
              <a:t>Naowarat</a:t>
            </a:r>
            <a:r>
              <a:rPr lang="en-US" sz="1000" dirty="0"/>
              <a:t> </a:t>
            </a:r>
            <a:r>
              <a:rPr lang="en-US" sz="1000" dirty="0" err="1"/>
              <a:t>Cheeptham</a:t>
            </a:r>
            <a:r>
              <a:rPr lang="en-US" sz="1000" dirty="0"/>
              <a:t>, Thompson Rivers University, Kamloops, BC, Canada)</a:t>
            </a:r>
          </a:p>
        </p:txBody>
      </p:sp>
      <p:sp>
        <p:nvSpPr>
          <p:cNvPr id="4" name="TextBox 3"/>
          <p:cNvSpPr txBox="1"/>
          <p:nvPr/>
        </p:nvSpPr>
        <p:spPr>
          <a:xfrm>
            <a:off x="6350000" y="6135878"/>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604000"/>
            <a:ext cx="5080000" cy="635000"/>
          </a:xfrm>
          <a:prstGeom prst="rect">
            <a:avLst/>
          </a:prstGeom>
        </p:spPr>
        <p:txBody>
          <a:bodyPr rtlCol="0" anchor="t"/>
          <a:lstStyle/>
          <a:p>
            <a:pPr algn="l"/>
            <a:endParaRPr lang="en-US" sz="1100"/>
          </a:p>
          <a:p>
            <a:pPr lvl="0"/>
            <a:endParaRPr lang="en-US" sz="1100"/>
          </a:p>
        </p:txBody>
      </p:sp>
    </p:spTree>
    <p:extLst>
      <p:ext uri="{BB962C8B-B14F-4D97-AF65-F5344CB8AC3E}">
        <p14:creationId xmlns:p14="http://schemas.microsoft.com/office/powerpoint/2010/main" val="1259831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52400"/>
            <a:ext cx="5080000" cy="5003800"/>
          </a:xfrm>
          <a:prstGeom prst="rect">
            <a:avLst/>
          </a:prstGeom>
        </p:spPr>
      </p:pic>
      <p:sp>
        <p:nvSpPr>
          <p:cNvPr id="3" name="TextBox 2"/>
          <p:cNvSpPr txBox="1"/>
          <p:nvPr/>
        </p:nvSpPr>
        <p:spPr>
          <a:xfrm>
            <a:off x="635000" y="5562600"/>
            <a:ext cx="7937500" cy="5080000"/>
          </a:xfrm>
          <a:prstGeom prst="rect">
            <a:avLst/>
          </a:prstGeom>
        </p:spPr>
        <p:txBody>
          <a:bodyPr rtlCol="0" anchor="t"/>
          <a:lstStyle/>
          <a:p>
            <a:pPr algn="l"/>
            <a:endParaRPr lang="en-US" sz="1000" dirty="0"/>
          </a:p>
          <a:p>
            <a:pPr lvl="0"/>
            <a:r>
              <a:rPr lang="en-US" sz="1000" dirty="0"/>
              <a:t>Klebsiella pneumoniae on EMB (Enlarged view)</a:t>
            </a:r>
          </a:p>
          <a:p>
            <a:pPr lvl="0"/>
            <a:r>
              <a:rPr lang="en-US" sz="1000" dirty="0"/>
              <a:t>FIG. 3. EMB agar plate inoculated with Klebsiella pneumoniae (a gram-negative coliform bacterium) showing good growth of brown, dark-centered, mucoid colonies (smaller than Enterobacter) indicating lactose fermentation and acid production. (</a:t>
            </a:r>
            <a:r>
              <a:rPr lang="en-US" sz="1000" dirty="0" err="1"/>
              <a:t>Naowarat</a:t>
            </a:r>
            <a:r>
              <a:rPr lang="en-US" sz="1000" dirty="0"/>
              <a:t> </a:t>
            </a:r>
            <a:r>
              <a:rPr lang="en-US" sz="1000" dirty="0" err="1"/>
              <a:t>Cheeptham</a:t>
            </a:r>
            <a:r>
              <a:rPr lang="en-US" sz="1000" dirty="0"/>
              <a:t>, Thompson Rivers University, Kamloops, BC, Canada)</a:t>
            </a:r>
          </a:p>
        </p:txBody>
      </p:sp>
      <p:sp>
        <p:nvSpPr>
          <p:cNvPr id="4" name="TextBox 3"/>
          <p:cNvSpPr txBox="1"/>
          <p:nvPr/>
        </p:nvSpPr>
        <p:spPr>
          <a:xfrm>
            <a:off x="6350000" y="6197600"/>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604000"/>
            <a:ext cx="5080000" cy="635000"/>
          </a:xfrm>
          <a:prstGeom prst="rect">
            <a:avLst/>
          </a:prstGeom>
        </p:spPr>
        <p:txBody>
          <a:bodyPr rtlCol="0" anchor="t"/>
          <a:lstStyle/>
          <a:p>
            <a:pPr algn="l"/>
            <a:endParaRPr lang="en-US" sz="1100"/>
          </a:p>
          <a:p>
            <a:pPr lvl="0"/>
            <a:endParaRPr lang="en-US" sz="1100"/>
          </a:p>
        </p:txBody>
      </p:sp>
    </p:spTree>
    <p:extLst>
      <p:ext uri="{BB962C8B-B14F-4D97-AF65-F5344CB8AC3E}">
        <p14:creationId xmlns:p14="http://schemas.microsoft.com/office/powerpoint/2010/main" val="959213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5207000"/>
          </a:xfrm>
          <a:prstGeom prst="rect">
            <a:avLst/>
          </a:prstGeom>
        </p:spPr>
      </p:pic>
      <p:sp>
        <p:nvSpPr>
          <p:cNvPr id="3" name="TextBox 2"/>
          <p:cNvSpPr txBox="1"/>
          <p:nvPr/>
        </p:nvSpPr>
        <p:spPr>
          <a:xfrm>
            <a:off x="635000" y="5537200"/>
            <a:ext cx="7937500" cy="5080000"/>
          </a:xfrm>
          <a:prstGeom prst="rect">
            <a:avLst/>
          </a:prstGeom>
        </p:spPr>
        <p:txBody>
          <a:bodyPr rtlCol="0" anchor="t"/>
          <a:lstStyle/>
          <a:p>
            <a:pPr algn="l"/>
            <a:endParaRPr lang="en-US" sz="1000" dirty="0"/>
          </a:p>
          <a:p>
            <a:pPr lvl="0"/>
            <a:r>
              <a:rPr lang="en-US" sz="1000" dirty="0"/>
              <a:t>Pseudomonas aeruginosa on EMB (Enlarged view)</a:t>
            </a:r>
          </a:p>
          <a:p>
            <a:pPr lvl="0"/>
            <a:r>
              <a:rPr lang="en-US" sz="1000" dirty="0"/>
              <a:t>FIG. 4. EMB agar plate inoculated with Pseudomonas 
aeruginosa (a gram-negative </a:t>
            </a:r>
            <a:r>
              <a:rPr lang="en-US" sz="1000" dirty="0" err="1"/>
              <a:t>noncoliform</a:t>
            </a:r>
            <a:r>
              <a:rPr lang="en-US" sz="1000" dirty="0"/>
              <a:t> bacterium) showing good growth but no fermentation of sugars or acid production. (</a:t>
            </a:r>
            <a:r>
              <a:rPr lang="en-US" sz="1000" dirty="0" err="1"/>
              <a:t>Naowarat</a:t>
            </a:r>
            <a:r>
              <a:rPr lang="en-US" sz="1000" dirty="0"/>
              <a:t> </a:t>
            </a:r>
            <a:r>
              <a:rPr lang="en-US" sz="1000" dirty="0" err="1"/>
              <a:t>Cheeptham</a:t>
            </a:r>
            <a:r>
              <a:rPr lang="en-US" sz="1000" dirty="0"/>
              <a:t> and </a:t>
            </a:r>
            <a:r>
              <a:rPr lang="en-US" sz="1000" dirty="0" err="1"/>
              <a:t>Carolynne</a:t>
            </a:r>
            <a:r>
              <a:rPr lang="en-US" sz="1000" dirty="0"/>
              <a:t> </a:t>
            </a:r>
            <a:r>
              <a:rPr lang="en-US" sz="1000" dirty="0" err="1"/>
              <a:t>Fardy</a:t>
            </a:r>
            <a:r>
              <a:rPr lang="en-US" sz="1000" dirty="0"/>
              <a:t>, Thompson Rivers University, Kamloops, BC, Canada)</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604000"/>
            <a:ext cx="5080000" cy="635000"/>
          </a:xfrm>
          <a:prstGeom prst="rect">
            <a:avLst/>
          </a:prstGeom>
        </p:spPr>
        <p:txBody>
          <a:bodyPr rtlCol="0" anchor="t"/>
          <a:lstStyle/>
          <a:p>
            <a:pPr algn="l"/>
            <a:endParaRPr lang="en-US" sz="1100"/>
          </a:p>
          <a:p>
            <a:pPr lvl="0"/>
            <a:endParaRPr lang="en-US" sz="1100"/>
          </a:p>
        </p:txBody>
      </p:sp>
    </p:spTree>
    <p:extLst>
      <p:ext uri="{BB962C8B-B14F-4D97-AF65-F5344CB8AC3E}">
        <p14:creationId xmlns:p14="http://schemas.microsoft.com/office/powerpoint/2010/main" val="918132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70100" y="381000"/>
            <a:ext cx="5067300" cy="5257800"/>
          </a:xfrm>
          <a:prstGeom prst="rect">
            <a:avLst/>
          </a:prstGeom>
        </p:spPr>
      </p:pic>
      <p:sp>
        <p:nvSpPr>
          <p:cNvPr id="3" name="TextBox 2"/>
          <p:cNvSpPr txBox="1"/>
          <p:nvPr/>
        </p:nvSpPr>
        <p:spPr>
          <a:xfrm>
            <a:off x="635000" y="5461000"/>
            <a:ext cx="7937500" cy="5080000"/>
          </a:xfrm>
          <a:prstGeom prst="rect">
            <a:avLst/>
          </a:prstGeom>
        </p:spPr>
        <p:txBody>
          <a:bodyPr rtlCol="0" anchor="t"/>
          <a:lstStyle/>
          <a:p>
            <a:pPr algn="l"/>
            <a:endParaRPr lang="en-US" sz="1000" dirty="0"/>
          </a:p>
          <a:p>
            <a:pPr lvl="0"/>
            <a:r>
              <a:rPr lang="en-US" sz="1000" dirty="0"/>
              <a:t>Proteus vulgaris on EMB (Enlarged view)</a:t>
            </a:r>
          </a:p>
          <a:p>
            <a:pPr lvl="0"/>
            <a:r>
              <a:rPr lang="en-US" sz="1000" dirty="0"/>
              <a:t>FIG. 5. EMB agar plate inoculated with Proteus 
vulgaris (a gram-negative coliform bacterium) showing growth of pink colonies indicating non-lactose fermentation and some acid production. (</a:t>
            </a:r>
            <a:r>
              <a:rPr lang="en-US" sz="1000" dirty="0" err="1"/>
              <a:t>Naowarat</a:t>
            </a:r>
            <a:r>
              <a:rPr lang="en-US" sz="1000" dirty="0"/>
              <a:t> </a:t>
            </a:r>
            <a:r>
              <a:rPr lang="en-US" sz="1000" dirty="0" err="1"/>
              <a:t>Cheeptham</a:t>
            </a:r>
            <a:r>
              <a:rPr lang="en-US" sz="1000" dirty="0"/>
              <a:t>, Thompson Rivers University, Kamloops, BC, Canada)</a:t>
            </a:r>
          </a:p>
        </p:txBody>
      </p:sp>
      <p:sp>
        <p:nvSpPr>
          <p:cNvPr id="4" name="TextBox 3"/>
          <p:cNvSpPr txBox="1"/>
          <p:nvPr/>
        </p:nvSpPr>
        <p:spPr>
          <a:xfrm>
            <a:off x="6350000" y="6096000"/>
            <a:ext cx="2540000" cy="635000"/>
          </a:xfrm>
          <a:prstGeom prst="rect">
            <a:avLst/>
          </a:prstGeom>
          <a:solidFill>
            <a:srgbClr val="FFFFFF"/>
          </a:solidFill>
        </p:spPr>
        <p:txBody>
          <a:bodyPr rtlCol="0" anchor="t"/>
          <a:lstStyle/>
          <a:p>
            <a:pPr algn="l"/>
            <a:endParaRPr lang="en-US" sz="1100"/>
          </a:p>
          <a:p>
            <a:pPr lvl="0"/>
            <a:r>
              <a:rPr lang="en-US" sz="1000"/>
              <a:t>American Society For Microbiology ©</a:t>
            </a:r>
          </a:p>
        </p:txBody>
      </p:sp>
      <p:sp>
        <p:nvSpPr>
          <p:cNvPr id="5" name="TextBox 4"/>
          <p:cNvSpPr txBox="1"/>
          <p:nvPr/>
        </p:nvSpPr>
        <p:spPr>
          <a:xfrm>
            <a:off x="635000" y="6096000"/>
            <a:ext cx="5080000" cy="635000"/>
          </a:xfrm>
          <a:prstGeom prst="rect">
            <a:avLst/>
          </a:prstGeom>
        </p:spPr>
        <p:txBody>
          <a:bodyPr rtlCol="0" anchor="t"/>
          <a:lstStyle/>
          <a:p>
            <a:pPr algn="l"/>
            <a:endParaRPr lang="en-US" sz="1100"/>
          </a:p>
          <a:p>
            <a:pPr lvl="0"/>
            <a:endParaRPr lang="en-US" sz="1100"/>
          </a:p>
        </p:txBody>
      </p:sp>
    </p:spTree>
    <p:extLst>
      <p:ext uri="{BB962C8B-B14F-4D97-AF65-F5344CB8AC3E}">
        <p14:creationId xmlns:p14="http://schemas.microsoft.com/office/powerpoint/2010/main" val="2071990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4279900"/>
          </a:xfrm>
          <a:prstGeom prst="rect">
            <a:avLst/>
          </a:prstGeom>
        </p:spPr>
      </p:pic>
      <p:sp>
        <p:nvSpPr>
          <p:cNvPr id="3" name="TextBox 2"/>
          <p:cNvSpPr txBox="1"/>
          <p:nvPr/>
        </p:nvSpPr>
        <p:spPr>
          <a:xfrm>
            <a:off x="635000" y="4740148"/>
            <a:ext cx="7937500" cy="5080000"/>
          </a:xfrm>
          <a:prstGeom prst="rect">
            <a:avLst/>
          </a:prstGeom>
        </p:spPr>
        <p:txBody>
          <a:bodyPr rtlCol="0" anchor="t"/>
          <a:lstStyle/>
          <a:p>
            <a:pPr algn="l"/>
            <a:endParaRPr lang="en-US" sz="1000" dirty="0"/>
          </a:p>
          <a:p>
            <a:pPr lvl="0"/>
            <a:r>
              <a:rPr lang="en-US" sz="1000" dirty="0"/>
              <a:t>Escherichia coli and Salmonella enteritidis on EMB (Enlarged view)FIG. 9. EMB agar plate inoculated with mixed enteric flora. The lactose fermenter 
Escherichia coli grew with purple-centered colonies while the lactose </a:t>
            </a:r>
            <a:r>
              <a:rPr lang="en-US" sz="1000" dirty="0" err="1"/>
              <a:t>nonfermenter</a:t>
            </a:r>
            <a:r>
              <a:rPr lang="en-US" sz="1000" dirty="0"/>
              <a:t> Salmonella enteritidis grew as colorless colonies. Salmonella enteritidis mixed with Escherichia coli is able to utilize the acid products as energy source, resulting in an insufficient acid buildup to precipitate out the Eosin Methylene Blue and no green metallic sheen is produced by Escherichia coli. (Jerry </a:t>
            </a:r>
            <a:r>
              <a:rPr lang="en-US" sz="1000" dirty="0" err="1"/>
              <a:t>Keplinger</a:t>
            </a:r>
            <a:r>
              <a:rPr lang="en-US" sz="1000" dirty="0"/>
              <a:t>, East Tennessee State University, Johnson City, TN)</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100"/>
          </a:p>
          <a:p>
            <a:pPr lvl="0"/>
            <a:r>
              <a:rPr lang="en-US" sz="100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100"/>
          </a:p>
          <a:p>
            <a:pPr lvl="0"/>
            <a:endParaRPr lang="en-US" sz="1100"/>
          </a:p>
        </p:txBody>
      </p:sp>
    </p:spTree>
    <p:extLst>
      <p:ext uri="{BB962C8B-B14F-4D97-AF65-F5344CB8AC3E}">
        <p14:creationId xmlns:p14="http://schemas.microsoft.com/office/powerpoint/2010/main" val="2527158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5308600"/>
          </a:xfrm>
          <a:prstGeom prst="rect">
            <a:avLst/>
          </a:prstGeom>
        </p:spPr>
      </p:pic>
      <p:sp>
        <p:nvSpPr>
          <p:cNvPr id="3" name="TextBox 2"/>
          <p:cNvSpPr txBox="1"/>
          <p:nvPr/>
        </p:nvSpPr>
        <p:spPr>
          <a:xfrm>
            <a:off x="635000" y="5638800"/>
            <a:ext cx="7937500" cy="5080000"/>
          </a:xfrm>
          <a:prstGeom prst="rect">
            <a:avLst/>
          </a:prstGeom>
        </p:spPr>
        <p:txBody>
          <a:bodyPr rtlCol="0" anchor="t"/>
          <a:lstStyle/>
          <a:p>
            <a:pPr algn="l"/>
            <a:endParaRPr lang="en-US" sz="1000" dirty="0"/>
          </a:p>
          <a:p>
            <a:pPr lvl="0"/>
            <a:r>
              <a:rPr lang="en-US" sz="1000" dirty="0"/>
              <a:t>Bacillus subtilis on EMB (Enlarged view)</a:t>
            </a:r>
          </a:p>
          <a:p>
            <a:pPr lvl="0"/>
            <a:r>
              <a:rPr lang="en-US" sz="1000" dirty="0"/>
              <a:t>FIG. 11. EMB agar plate inoculated with Bacillus 
subtilis (a gram-positive bacterium) showing poor growth. (</a:t>
            </a:r>
            <a:r>
              <a:rPr lang="en-US" sz="1000" dirty="0" err="1"/>
              <a:t>Naowarat</a:t>
            </a:r>
            <a:r>
              <a:rPr lang="en-US" sz="1000" dirty="0"/>
              <a:t> </a:t>
            </a:r>
            <a:r>
              <a:rPr lang="en-US" sz="1000" dirty="0" err="1"/>
              <a:t>Cheeptham,Thompson</a:t>
            </a:r>
            <a:r>
              <a:rPr lang="en-US" sz="1000" dirty="0"/>
              <a:t> Rivers University, Kamloops, BC, Canada) </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000"/>
          </a:p>
          <a:p>
            <a:pPr lvl="0"/>
            <a:endParaRPr lang="en-US" sz="1000"/>
          </a:p>
        </p:txBody>
      </p:sp>
    </p:spTree>
    <p:extLst>
      <p:ext uri="{BB962C8B-B14F-4D97-AF65-F5344CB8AC3E}">
        <p14:creationId xmlns:p14="http://schemas.microsoft.com/office/powerpoint/2010/main" val="2790135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4838700"/>
          </a:xfrm>
          <a:prstGeom prst="rect">
            <a:avLst/>
          </a:prstGeom>
        </p:spPr>
      </p:pic>
      <p:sp>
        <p:nvSpPr>
          <p:cNvPr id="3" name="TextBox 2"/>
          <p:cNvSpPr txBox="1"/>
          <p:nvPr/>
        </p:nvSpPr>
        <p:spPr>
          <a:xfrm>
            <a:off x="635000" y="5537200"/>
            <a:ext cx="7937500" cy="5080000"/>
          </a:xfrm>
          <a:prstGeom prst="rect">
            <a:avLst/>
          </a:prstGeom>
        </p:spPr>
        <p:txBody>
          <a:bodyPr rtlCol="0" anchor="t"/>
          <a:lstStyle/>
          <a:p>
            <a:pPr algn="l"/>
            <a:endParaRPr lang="en-US" sz="1000" dirty="0"/>
          </a:p>
          <a:p>
            <a:pPr lvl="0"/>
            <a:r>
              <a:rPr lang="en-US" sz="1000" dirty="0"/>
              <a:t>Micrococcus luteus on EMB (Enlarged view)</a:t>
            </a:r>
          </a:p>
          <a:p>
            <a:pPr lvl="0"/>
            <a:r>
              <a:rPr lang="en-US" sz="1000" dirty="0"/>
              <a:t>FIG. 12. EMB agar plate inoculated with Micrococcus 
luteus (a gram-positive bacterium) showing no growth. (</a:t>
            </a:r>
            <a:r>
              <a:rPr lang="en-US" sz="1000" dirty="0" err="1"/>
              <a:t>Naowarat</a:t>
            </a:r>
            <a:r>
              <a:rPr lang="en-US" sz="1000" dirty="0"/>
              <a:t> </a:t>
            </a:r>
            <a:r>
              <a:rPr lang="en-US" sz="1000" dirty="0" err="1"/>
              <a:t>Cheeptham</a:t>
            </a:r>
            <a:r>
              <a:rPr lang="en-US" sz="1000" dirty="0"/>
              <a:t>, Thompson Rivers University, Kamloops, BC, Canada) </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000"/>
          </a:p>
          <a:p>
            <a:pPr lvl="0"/>
            <a:endParaRPr lang="en-US" sz="1000"/>
          </a:p>
        </p:txBody>
      </p:sp>
    </p:spTree>
    <p:extLst>
      <p:ext uri="{BB962C8B-B14F-4D97-AF65-F5344CB8AC3E}">
        <p14:creationId xmlns:p14="http://schemas.microsoft.com/office/powerpoint/2010/main" val="3493234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5029200"/>
          </a:xfrm>
          <a:prstGeom prst="rect">
            <a:avLst/>
          </a:prstGeom>
        </p:spPr>
      </p:pic>
      <p:sp>
        <p:nvSpPr>
          <p:cNvPr id="3" name="TextBox 2"/>
          <p:cNvSpPr txBox="1"/>
          <p:nvPr/>
        </p:nvSpPr>
        <p:spPr>
          <a:xfrm>
            <a:off x="635000" y="5537200"/>
            <a:ext cx="7937500" cy="5080000"/>
          </a:xfrm>
          <a:prstGeom prst="rect">
            <a:avLst/>
          </a:prstGeom>
        </p:spPr>
        <p:txBody>
          <a:bodyPr rtlCol="0" anchor="t"/>
          <a:lstStyle/>
          <a:p>
            <a:pPr algn="l"/>
            <a:endParaRPr lang="en-US" sz="1000" dirty="0"/>
          </a:p>
          <a:p>
            <a:pPr lvl="0"/>
            <a:r>
              <a:rPr lang="en-US" sz="1000" dirty="0"/>
              <a:t>Streptococcus group B on EMB (Enlarged view)
FIG. 14. EMB agar plate inoculated with Streptococcus group B (a gram-positive bacterium) showing no growth. (Archana Lal, Independence Community College, Independence, KS)
</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000"/>
          </a:p>
          <a:p>
            <a:pPr lvl="0"/>
            <a:endParaRPr lang="en-US" sz="1000"/>
          </a:p>
        </p:txBody>
      </p:sp>
    </p:spTree>
    <p:extLst>
      <p:ext uri="{BB962C8B-B14F-4D97-AF65-F5344CB8AC3E}">
        <p14:creationId xmlns:p14="http://schemas.microsoft.com/office/powerpoint/2010/main" val="2168741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5080000"/>
          </a:xfrm>
          <a:prstGeom prst="rect">
            <a:avLst/>
          </a:prstGeom>
        </p:spPr>
      </p:pic>
      <p:sp>
        <p:nvSpPr>
          <p:cNvPr id="3" name="TextBox 2"/>
          <p:cNvSpPr txBox="1"/>
          <p:nvPr/>
        </p:nvSpPr>
        <p:spPr>
          <a:xfrm>
            <a:off x="635000" y="5537200"/>
            <a:ext cx="7937500" cy="5080000"/>
          </a:xfrm>
          <a:prstGeom prst="rect">
            <a:avLst/>
          </a:prstGeom>
        </p:spPr>
        <p:txBody>
          <a:bodyPr rtlCol="0" anchor="t"/>
          <a:lstStyle/>
          <a:p>
            <a:pPr algn="l"/>
            <a:endParaRPr lang="en-US" sz="1000" dirty="0"/>
          </a:p>
          <a:p>
            <a:pPr lvl="0"/>
            <a:r>
              <a:rPr lang="en-US" sz="1000" dirty="0"/>
              <a:t>Salmonella enteritidis on EMB(Enlarged view)
FIG. 16. EMB agar plate inoculated with Salmonella enteritidis (a gram-negative coliform bacterium) showing good growth of grey mucoid colonies with no fermentation of lactose or acid production. (</a:t>
            </a:r>
            <a:r>
              <a:rPr lang="en-US" sz="1000" dirty="0" err="1"/>
              <a:t>Naowarat</a:t>
            </a:r>
            <a:r>
              <a:rPr lang="en-US" sz="1000" dirty="0"/>
              <a:t> </a:t>
            </a:r>
            <a:r>
              <a:rPr lang="en-US" sz="1000" dirty="0" err="1"/>
              <a:t>Cheeptham</a:t>
            </a:r>
            <a:r>
              <a:rPr lang="en-US" sz="1000" dirty="0"/>
              <a:t> and </a:t>
            </a:r>
            <a:r>
              <a:rPr lang="en-US" sz="1000" dirty="0" err="1"/>
              <a:t>Carolynne</a:t>
            </a:r>
            <a:r>
              <a:rPr lang="en-US" sz="1000" dirty="0"/>
              <a:t> </a:t>
            </a:r>
            <a:r>
              <a:rPr lang="en-US" sz="1000" dirty="0" err="1"/>
              <a:t>Fardy</a:t>
            </a:r>
            <a:r>
              <a:rPr lang="en-US" sz="1000" dirty="0"/>
              <a:t>, Thompson Rivers University, Kamloops, BC, Canada)
</a:t>
            </a:r>
          </a:p>
        </p:txBody>
      </p:sp>
      <p:sp>
        <p:nvSpPr>
          <p:cNvPr id="4" name="TextBox 3"/>
          <p:cNvSpPr txBox="1"/>
          <p:nvPr/>
        </p:nvSpPr>
        <p:spPr>
          <a:xfrm>
            <a:off x="6350000" y="6238240"/>
            <a:ext cx="2540000" cy="635000"/>
          </a:xfrm>
          <a:prstGeom prst="rect">
            <a:avLst/>
          </a:prstGeom>
          <a:solidFill>
            <a:srgbClr val="FFFFFF"/>
          </a:solidFill>
        </p:spPr>
        <p:txBody>
          <a:bodyPr rtlCol="0" anchor="t"/>
          <a:lstStyle/>
          <a:p>
            <a:pPr algn="l"/>
            <a:endParaRPr lang="en-US" sz="1000" dirty="0"/>
          </a:p>
          <a:p>
            <a:pPr lvl="0"/>
            <a:r>
              <a:rPr lang="en-US" sz="1000" dirty="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000"/>
          </a:p>
          <a:p>
            <a:pPr lvl="0"/>
            <a:endParaRPr lang="en-US" sz="1000"/>
          </a:p>
        </p:txBody>
      </p:sp>
    </p:spTree>
    <p:extLst>
      <p:ext uri="{BB962C8B-B14F-4D97-AF65-F5344CB8AC3E}">
        <p14:creationId xmlns:p14="http://schemas.microsoft.com/office/powerpoint/2010/main" val="1623445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4584700"/>
          </a:xfrm>
          <a:prstGeom prst="rect">
            <a:avLst/>
          </a:prstGeom>
        </p:spPr>
      </p:pic>
      <p:sp>
        <p:nvSpPr>
          <p:cNvPr id="3" name="TextBox 2"/>
          <p:cNvSpPr txBox="1"/>
          <p:nvPr/>
        </p:nvSpPr>
        <p:spPr>
          <a:xfrm>
            <a:off x="635000" y="5537200"/>
            <a:ext cx="7937500" cy="5080000"/>
          </a:xfrm>
          <a:prstGeom prst="rect">
            <a:avLst/>
          </a:prstGeom>
        </p:spPr>
        <p:txBody>
          <a:bodyPr rtlCol="0" anchor="t"/>
          <a:lstStyle/>
          <a:p>
            <a:pPr algn="l"/>
            <a:endParaRPr lang="en-US" sz="1000" dirty="0"/>
          </a:p>
          <a:p>
            <a:pPr lvl="0"/>
            <a:r>
              <a:rPr lang="en-US" sz="1000" dirty="0"/>
              <a:t>Escherichia coli and Pseudomonas aeruginosa on EMB (Enlarged view)</a:t>
            </a:r>
          </a:p>
          <a:p>
            <a:pPr lvl="0"/>
            <a:r>
              <a:rPr lang="en-US" sz="1000" dirty="0"/>
              <a:t>FIG. 6. EMB agar plate inoculated with a mixed culture of Escherichia coli and Pseudomonas aeruginosa. Note the metallic green sheen of the strong lactose-fermenting Escherichia coli and the pinkish colonies of </a:t>
            </a:r>
            <a:r>
              <a:rPr lang="en-US" sz="1000" dirty="0" err="1"/>
              <a:t>nonfermenter</a:t>
            </a:r>
            <a:r>
              <a:rPr lang="en-US" sz="1000" dirty="0"/>
              <a:t> Pseudomonas aeruginosa. (Archana Lal, Independence Community College, Independence, KS)</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100"/>
          </a:p>
          <a:p>
            <a:pPr lvl="0"/>
            <a:r>
              <a:rPr lang="en-US" sz="100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100"/>
          </a:p>
          <a:p>
            <a:pPr lvl="0"/>
            <a:endParaRPr lang="en-US" sz="1100"/>
          </a:p>
        </p:txBody>
      </p:sp>
    </p:spTree>
    <p:extLst>
      <p:ext uri="{BB962C8B-B14F-4D97-AF65-F5344CB8AC3E}">
        <p14:creationId xmlns:p14="http://schemas.microsoft.com/office/powerpoint/2010/main" val="1537342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457200"/>
            <a:ext cx="5080000" cy="4521200"/>
          </a:xfrm>
          <a:prstGeom prst="rect">
            <a:avLst/>
          </a:prstGeom>
        </p:spPr>
      </p:pic>
      <p:sp>
        <p:nvSpPr>
          <p:cNvPr id="3" name="TextBox 2"/>
          <p:cNvSpPr txBox="1"/>
          <p:nvPr/>
        </p:nvSpPr>
        <p:spPr>
          <a:xfrm>
            <a:off x="635000" y="5257800"/>
            <a:ext cx="7937500" cy="5080000"/>
          </a:xfrm>
          <a:prstGeom prst="rect">
            <a:avLst/>
          </a:prstGeom>
        </p:spPr>
        <p:txBody>
          <a:bodyPr rtlCol="0" anchor="t"/>
          <a:lstStyle/>
          <a:p>
            <a:pPr algn="l"/>
            <a:endParaRPr lang="en-US" sz="1000" dirty="0"/>
          </a:p>
          <a:p>
            <a:pPr lvl="0"/>
            <a:r>
              <a:rPr lang="en-US" sz="1000" dirty="0"/>
              <a:t>Escherichia coli, Bacillus subtilis, Pseudomonas aeruginosa, and Staphylococcus aureus on EMB (Enlarged view)</a:t>
            </a:r>
          </a:p>
          <a:p>
            <a:pPr lvl="0"/>
            <a:r>
              <a:rPr lang="en-US" sz="1000" dirty="0"/>
              <a:t>FIG. 15. EMB agar plate inoculated with (A) Escherichia coli, (B) Bacillus subtilis, (C) Pseudomonas aeruginosa, and (D) Staphylococcus aureus. The two gram-positive bacteria Bacillus subtilis and Staphylococcus aureus did not grow, while the two gram-negative bacteria </a:t>
            </a:r>
            <a:r>
              <a:rPr lang="en-US" sz="1000" dirty="0" err="1"/>
              <a:t>Escherischia</a:t>
            </a:r>
            <a:r>
              <a:rPr lang="en-US" sz="1000" dirty="0"/>
              <a:t> coli and Pseudomonas aeruginosa grew with typical lactose fermenter (colonies with green metallic sheen) and </a:t>
            </a:r>
            <a:r>
              <a:rPr lang="en-US" sz="1000" dirty="0" err="1"/>
              <a:t>nonfermenter</a:t>
            </a:r>
            <a:r>
              <a:rPr lang="en-US" sz="1000" dirty="0"/>
              <a:t> (pink colonies) morphology. (Archana Lal, Independence Community College, Independence, KS)</a:t>
            </a:r>
          </a:p>
        </p:txBody>
      </p:sp>
      <p:sp>
        <p:nvSpPr>
          <p:cNvPr id="4" name="TextBox 3"/>
          <p:cNvSpPr txBox="1"/>
          <p:nvPr/>
        </p:nvSpPr>
        <p:spPr>
          <a:xfrm>
            <a:off x="6350000" y="6172200"/>
            <a:ext cx="2540000" cy="635000"/>
          </a:xfrm>
          <a:prstGeom prst="rect">
            <a:avLst/>
          </a:prstGeom>
          <a:solidFill>
            <a:srgbClr val="FFFFFF"/>
          </a:solidFill>
        </p:spPr>
        <p:txBody>
          <a:bodyPr rtlCol="0" anchor="t"/>
          <a:lstStyle/>
          <a:p>
            <a:pPr algn="l"/>
            <a:endParaRPr lang="en-US" sz="1000" dirty="0"/>
          </a:p>
          <a:p>
            <a:pPr lvl="0"/>
            <a:r>
              <a:rPr lang="en-US" sz="1000" dirty="0"/>
              <a:t>American Society For Microbiology ©</a:t>
            </a:r>
          </a:p>
        </p:txBody>
      </p:sp>
      <p:sp>
        <p:nvSpPr>
          <p:cNvPr id="5" name="TextBox 4"/>
          <p:cNvSpPr txBox="1"/>
          <p:nvPr/>
        </p:nvSpPr>
        <p:spPr>
          <a:xfrm>
            <a:off x="635000" y="6172200"/>
            <a:ext cx="5080000" cy="635000"/>
          </a:xfrm>
          <a:prstGeom prst="rect">
            <a:avLst/>
          </a:prstGeom>
        </p:spPr>
        <p:txBody>
          <a:bodyPr rtlCol="0" anchor="t"/>
          <a:lstStyle/>
          <a:p>
            <a:pPr algn="l"/>
            <a:endParaRPr lang="en-US" sz="1000"/>
          </a:p>
          <a:p>
            <a:pPr lvl="0"/>
            <a:endParaRPr lang="en-US" sz="1000"/>
          </a:p>
        </p:txBody>
      </p:sp>
    </p:spTree>
    <p:extLst>
      <p:ext uri="{BB962C8B-B14F-4D97-AF65-F5344CB8AC3E}">
        <p14:creationId xmlns:p14="http://schemas.microsoft.com/office/powerpoint/2010/main" val="2532859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33130"/>
            <a:ext cx="5080000" cy="5156200"/>
          </a:xfrm>
          <a:prstGeom prst="rect">
            <a:avLst/>
          </a:prstGeom>
        </p:spPr>
      </p:pic>
      <p:sp>
        <p:nvSpPr>
          <p:cNvPr id="4" name="TextBox 3"/>
          <p:cNvSpPr txBox="1"/>
          <p:nvPr/>
        </p:nvSpPr>
        <p:spPr>
          <a:xfrm>
            <a:off x="6350000" y="6205330"/>
            <a:ext cx="2540000" cy="635000"/>
          </a:xfrm>
          <a:prstGeom prst="rect">
            <a:avLst/>
          </a:prstGeom>
          <a:solidFill>
            <a:srgbClr val="FFFFFF"/>
          </a:solidFill>
        </p:spPr>
        <p:txBody>
          <a:bodyPr rtlCol="0" anchor="t"/>
          <a:lstStyle/>
          <a:p>
            <a:pPr algn="l"/>
            <a:endParaRPr lang="en-US" sz="1000"/>
          </a:p>
          <a:p>
            <a:pPr lvl="0"/>
            <a:r>
              <a:rPr lang="en-US" sz="1000"/>
              <a:t>American Society For Microbiology ©</a:t>
            </a:r>
          </a:p>
        </p:txBody>
      </p:sp>
      <p:sp>
        <p:nvSpPr>
          <p:cNvPr id="5" name="TextBox 4"/>
          <p:cNvSpPr txBox="1"/>
          <p:nvPr/>
        </p:nvSpPr>
        <p:spPr>
          <a:xfrm>
            <a:off x="635000" y="6604000"/>
            <a:ext cx="5080000" cy="635000"/>
          </a:xfrm>
          <a:prstGeom prst="rect">
            <a:avLst/>
          </a:prstGeom>
        </p:spPr>
        <p:txBody>
          <a:bodyPr rtlCol="0" anchor="t"/>
          <a:lstStyle/>
          <a:p>
            <a:pPr algn="l"/>
            <a:endParaRPr lang="en-US" sz="1100"/>
          </a:p>
          <a:p>
            <a:pPr lvl="0"/>
            <a:endParaRPr lang="en-US" sz="1100"/>
          </a:p>
        </p:txBody>
      </p:sp>
      <p:sp>
        <p:nvSpPr>
          <p:cNvPr id="6" name="TextBox 5"/>
          <p:cNvSpPr txBox="1"/>
          <p:nvPr/>
        </p:nvSpPr>
        <p:spPr>
          <a:xfrm>
            <a:off x="552450" y="5189330"/>
            <a:ext cx="7937500" cy="1270000"/>
          </a:xfrm>
          <a:prstGeom prst="rect">
            <a:avLst/>
          </a:prstGeom>
        </p:spPr>
        <p:txBody>
          <a:bodyPr rtlCol="0" anchor="t"/>
          <a:lstStyle/>
          <a:p>
            <a:pPr algn="l"/>
            <a:endParaRPr lang="en-US" sz="1000" dirty="0"/>
          </a:p>
          <a:p>
            <a:pPr lvl="0"/>
            <a:r>
              <a:rPr lang="en-US" sz="1000" dirty="0"/>
              <a:t>Escherichia coli, Pseudomonas aeruginosa, </a:t>
            </a:r>
            <a:r>
              <a:rPr lang="en-US" sz="1000" dirty="0" err="1"/>
              <a:t>Klebsiella</a:t>
            </a:r>
            <a:r>
              <a:rPr lang="en-US" sz="1000" dirty="0"/>
              <a:t> </a:t>
            </a:r>
            <a:r>
              <a:rPr lang="en-US" sz="1000" dirty="0" err="1"/>
              <a:t>pneumoniae</a:t>
            </a:r>
            <a:r>
              <a:rPr lang="en-US" sz="1000" dirty="0"/>
              <a:t>, </a:t>
            </a:r>
            <a:r>
              <a:rPr lang="en-US" sz="1000" dirty="0" err="1"/>
              <a:t>Enterobacter</a:t>
            </a:r>
            <a:r>
              <a:rPr lang="en-US" sz="1000" dirty="0"/>
              <a:t> </a:t>
            </a:r>
            <a:r>
              <a:rPr lang="en-US" sz="1000" dirty="0" err="1"/>
              <a:t>aerogenes</a:t>
            </a:r>
            <a:r>
              <a:rPr lang="en-US" sz="1000" dirty="0"/>
              <a:t> on EMB(Enlarged view)FIG. 17. EMB agar plate inoculated with (A) Escherichia coli, (B) Pseudomonas aeruginosa, (C) </a:t>
            </a:r>
            <a:r>
              <a:rPr lang="en-US" sz="1000" dirty="0" err="1"/>
              <a:t>Klebsiella</a:t>
            </a:r>
            <a:r>
              <a:rPr lang="en-US" sz="1000" dirty="0"/>
              <a:t> </a:t>
            </a:r>
            <a:r>
              <a:rPr lang="en-US" sz="1000" dirty="0" err="1"/>
              <a:t>pneumoinae</a:t>
            </a:r>
            <a:r>
              <a:rPr lang="en-US" sz="1000" dirty="0"/>
              <a:t>, and (D) </a:t>
            </a:r>
            <a:r>
              <a:rPr lang="en-US" sz="1000" dirty="0" err="1"/>
              <a:t>Enterobacter</a:t>
            </a:r>
            <a:r>
              <a:rPr lang="en-US" sz="1000" dirty="0"/>
              <a:t> </a:t>
            </a:r>
            <a:r>
              <a:rPr lang="en-US" sz="1000" dirty="0" err="1"/>
              <a:t>aerogenes</a:t>
            </a:r>
            <a:r>
              <a:rPr lang="en-US" sz="1000" dirty="0"/>
              <a:t>. All four gram negative bacteria grew exhibiting different morphology. </a:t>
            </a:r>
            <a:r>
              <a:rPr lang="en-US" sz="1000" dirty="0" err="1"/>
              <a:t>Escherischia</a:t>
            </a:r>
            <a:r>
              <a:rPr lang="en-US" sz="1000" dirty="0"/>
              <a:t> coli grew with typical lactose fermenter morphology with excessive acid production and precipitation of green metallic pigment (colonies with green metallic sheen). Pseudomonas aeruginosa grew exhibiting the </a:t>
            </a:r>
            <a:r>
              <a:rPr lang="en-US" sz="1000" dirty="0" err="1"/>
              <a:t>nonfermenter</a:t>
            </a:r>
            <a:r>
              <a:rPr lang="en-US" sz="1000" dirty="0"/>
              <a:t> morphology (pinkish colonies), both </a:t>
            </a:r>
            <a:r>
              <a:rPr lang="en-US" sz="1000" dirty="0" err="1"/>
              <a:t>Klebsiella</a:t>
            </a:r>
            <a:r>
              <a:rPr lang="en-US" sz="1000" dirty="0"/>
              <a:t> </a:t>
            </a:r>
            <a:r>
              <a:rPr lang="en-US" sz="1000" dirty="0" err="1"/>
              <a:t>pneumoniae</a:t>
            </a:r>
            <a:r>
              <a:rPr lang="en-US" sz="1000" dirty="0"/>
              <a:t> and </a:t>
            </a:r>
            <a:r>
              <a:rPr lang="en-US" sz="1000" dirty="0" err="1"/>
              <a:t>Enterobacter</a:t>
            </a:r>
            <a:r>
              <a:rPr lang="en-US" sz="1000" dirty="0"/>
              <a:t> </a:t>
            </a:r>
            <a:r>
              <a:rPr lang="en-US" sz="1000" dirty="0" err="1"/>
              <a:t>aerogenes</a:t>
            </a:r>
            <a:r>
              <a:rPr lang="en-US" sz="1000" dirty="0"/>
              <a:t> grew with lactose fermentation and acid production morphology (with purple dark centered mucoid colonies). (</a:t>
            </a:r>
            <a:r>
              <a:rPr lang="en-US" sz="1000" dirty="0" err="1"/>
              <a:t>Naowarat</a:t>
            </a:r>
            <a:r>
              <a:rPr lang="en-US" sz="1000" dirty="0"/>
              <a:t> </a:t>
            </a:r>
            <a:r>
              <a:rPr lang="en-US" sz="1000" dirty="0" err="1"/>
              <a:t>Cheeptham</a:t>
            </a:r>
            <a:r>
              <a:rPr lang="en-US" sz="1000" dirty="0"/>
              <a:t> and </a:t>
            </a:r>
            <a:r>
              <a:rPr lang="en-US" sz="1000" dirty="0" err="1"/>
              <a:t>Carolynne</a:t>
            </a:r>
            <a:r>
              <a:rPr lang="en-US" sz="1000" dirty="0"/>
              <a:t> </a:t>
            </a:r>
            <a:r>
              <a:rPr lang="en-US" sz="1000" dirty="0" err="1"/>
              <a:t>Fardy</a:t>
            </a:r>
            <a:r>
              <a:rPr lang="en-US" sz="1000" dirty="0"/>
              <a:t>, Thompson Rivers University, Kamloops, BC, Canada)  </a:t>
            </a:r>
          </a:p>
        </p:txBody>
      </p:sp>
    </p:spTree>
    <p:extLst>
      <p:ext uri="{BB962C8B-B14F-4D97-AF65-F5344CB8AC3E}">
        <p14:creationId xmlns:p14="http://schemas.microsoft.com/office/powerpoint/2010/main" val="4129371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4B6F67F2EBBB4899004D72FA682313" ma:contentTypeVersion="2" ma:contentTypeDescription="Create a new document." ma:contentTypeScope="" ma:versionID="3f94d62123c03d83dd8faebb52678cc4">
  <xsd:schema xmlns:xsd="http://www.w3.org/2001/XMLSchema" xmlns:xs="http://www.w3.org/2001/XMLSchema" xmlns:p="http://schemas.microsoft.com/office/2006/metadata/properties" xmlns:ns2="9e03c8d6-293a-4917-bfcc-c04f9fe7f4b5" targetNamespace="http://schemas.microsoft.com/office/2006/metadata/properties" ma:root="true" ma:fieldsID="e4d91ffe478fb4f042853292f763551d" ns2:_="">
    <xsd:import namespace="9e03c8d6-293a-4917-bfcc-c04f9fe7f4b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03c8d6-293a-4917-bfcc-c04f9fe7f4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DFBB47-2C1D-4DCD-B4FD-C3CE3AC1E9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03c8d6-293a-4917-bfcc-c04f9fe7f4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89072F-44D0-414C-845F-A623E73B3DE0}">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9e03c8d6-293a-4917-bfcc-c04f9fe7f4b5"/>
    <ds:schemaRef ds:uri="http://www.w3.org/XML/1998/namespace"/>
    <ds:schemaRef ds:uri="http://purl.org/dc/dcmitype/"/>
  </ds:schemaRefs>
</ds:datastoreItem>
</file>

<file path=customXml/itemProps3.xml><?xml version="1.0" encoding="utf-8"?>
<ds:datastoreItem xmlns:ds="http://schemas.openxmlformats.org/officeDocument/2006/customXml" ds:itemID="{2700D7E5-F8A6-4E28-934C-1CF2D395FC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TotalTime>
  <Words>968</Words>
  <Application>Microsoft Macintosh PowerPoint</Application>
  <PresentationFormat>On-screen Show (4:3)</PresentationFormat>
  <Paragraphs>64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Eosin-Methylene Blue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Lake, Tamara</dc:creator>
  <cp:lastModifiedBy>Vasudha Sundaravaradan</cp:lastModifiedBy>
  <cp:revision>7</cp:revision>
  <dcterms:created xsi:type="dcterms:W3CDTF">2006-08-16T00:00:00Z</dcterms:created>
  <dcterms:modified xsi:type="dcterms:W3CDTF">2024-11-08T22:06:21Z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0x0101005D4B6F67F2EBBB4899004D72FA682313</vt:lpwstr>
  </property>
</Properties>
</file>