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LJBJExrZxglheBtvigu0jYp/G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bold.fntdata"/><Relationship Id="rId10" Type="http://schemas.openxmlformats.org/officeDocument/2006/relationships/slide" Target="slides/slide6.xml"/><Relationship Id="rId21" Type="http://schemas.openxmlformats.org/officeDocument/2006/relationships/font" Target="fonts/Play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e5332699_2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e5332699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23114860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2311486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231148605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23114860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ae533269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ae53326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ae5332699_2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ae5332699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e5332699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ae5332699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e5d735f6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e5d735f6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ae537a55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ae537a55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ae537a55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ae537a5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ae5332699_2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ae5332699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CKQFGRV64J_MdzLRjZoB69BVq9BTj4lq/edit?usp=sharing&amp;ouid=111558155526780017020&amp;rtpof=true&amp;sd=tru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teria in culture medium test tube for education in Laboratory. Stock  Photo | Adobe Stock" id="84" name="Google Shape;84;p1"/>
          <p:cNvPicPr preferRelativeResize="0"/>
          <p:nvPr/>
        </p:nvPicPr>
        <p:blipFill rotWithShape="1">
          <a:blip r:embed="rId3">
            <a:alphaModFix/>
          </a:blip>
          <a:srcRect b="2469" l="0" r="28913" t="0"/>
          <a:stretch/>
        </p:blipFill>
        <p:spPr>
          <a:xfrm>
            <a:off x="2911" y="0"/>
            <a:ext cx="7309379" cy="66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891200" y="5957450"/>
            <a:ext cx="847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Identifying a single unknown bacteria from broth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8387730" y="1891000"/>
            <a:ext cx="218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will need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8161867" y="2353733"/>
            <a:ext cx="3335866" cy="711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Flow chart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8161867" y="3799993"/>
            <a:ext cx="3335866" cy="711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Test results table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e5332699_2_40"/>
          <p:cNvSpPr txBox="1"/>
          <p:nvPr>
            <p:ph type="ctrTitle"/>
          </p:nvPr>
        </p:nvSpPr>
        <p:spPr>
          <a:xfrm>
            <a:off x="1128350" y="169569"/>
            <a:ext cx="9144000" cy="111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notes: steps for ID</a:t>
            </a:r>
            <a:endParaRPr/>
          </a:p>
        </p:txBody>
      </p:sp>
      <p:sp>
        <p:nvSpPr>
          <p:cNvPr id="94" name="Google Shape;94;g3aae5332699_2_40"/>
          <p:cNvSpPr txBox="1"/>
          <p:nvPr>
            <p:ph idx="1" type="subTitle"/>
          </p:nvPr>
        </p:nvSpPr>
        <p:spPr>
          <a:xfrm>
            <a:off x="312000" y="1582625"/>
            <a:ext cx="11568000" cy="471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800"/>
              <a:t>Bacilli are all rod shaped (like a pill)</a:t>
            </a:r>
            <a:endParaRPr sz="2800"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800"/>
              <a:t>Cocci are all circle shaped</a:t>
            </a:r>
            <a:endParaRPr sz="2800"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800"/>
              <a:t>Gram positive organism are always purple on Gram staining</a:t>
            </a:r>
            <a:endParaRPr sz="2800"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800"/>
              <a:t>Gram negative organisms are always pink on Gram staining</a:t>
            </a:r>
            <a:endParaRPr sz="2800"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800"/>
              <a:t>All students will have the table and their own flow chart to use</a:t>
            </a:r>
            <a:endParaRPr sz="2800"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800"/>
              <a:t>Students always Gram stain first</a:t>
            </a:r>
            <a:endParaRPr sz="2800"/>
          </a:p>
          <a:p>
            <a:pPr indent="-3810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2400"/>
              <a:t>Then they grow on TSA as a confirmation for Gram stain</a:t>
            </a:r>
            <a:endParaRPr sz="2400"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800"/>
              <a:t>Second level is selective media: </a:t>
            </a:r>
            <a:endParaRPr sz="2800"/>
          </a:p>
          <a:p>
            <a:pPr indent="-4064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US" sz="2800"/>
              <a:t>MacConkey for Gram negatives</a:t>
            </a:r>
            <a:endParaRPr sz="2800"/>
          </a:p>
          <a:p>
            <a:pPr indent="-4064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US" sz="2800"/>
              <a:t>Mannitol salt agar (MSA) for Gram positives</a:t>
            </a:r>
            <a:endParaRPr sz="2800"/>
          </a:p>
          <a:p>
            <a:pPr indent="-406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800"/>
              <a:t>Third level is biochemical test </a:t>
            </a:r>
            <a:endParaRPr sz="2800"/>
          </a:p>
          <a:p>
            <a:pPr indent="-3810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2400"/>
              <a:t>for Gram negative</a:t>
            </a:r>
            <a:r>
              <a:rPr lang="en-US" sz="2400"/>
              <a:t>: Citrate, MR .. see table</a:t>
            </a:r>
            <a:endParaRPr sz="2400"/>
          </a:p>
          <a:p>
            <a:pPr indent="-3810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2400"/>
              <a:t>for Gram positive: Blood agar, catalase.. see table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231148605_0_0"/>
          <p:cNvSpPr txBox="1"/>
          <p:nvPr>
            <p:ph type="ctrTitle"/>
          </p:nvPr>
        </p:nvSpPr>
        <p:spPr>
          <a:xfrm>
            <a:off x="0" y="1997103"/>
            <a:ext cx="5409300" cy="214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possible flow chart</a:t>
            </a:r>
            <a:endParaRPr/>
          </a:p>
        </p:txBody>
      </p:sp>
      <p:pic>
        <p:nvPicPr>
          <p:cNvPr id="100" name="Google Shape;100;g3b231148605_0_0" title="Bacterial Id flow char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925" y="81203"/>
            <a:ext cx="569426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231148605_0_6"/>
          <p:cNvSpPr txBox="1"/>
          <p:nvPr>
            <p:ph type="ctrTitle"/>
          </p:nvPr>
        </p:nvSpPr>
        <p:spPr>
          <a:xfrm>
            <a:off x="1524000" y="1122367"/>
            <a:ext cx="9144000" cy="893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table for all bacteria</a:t>
            </a:r>
            <a:endParaRPr/>
          </a:p>
        </p:txBody>
      </p:sp>
      <p:sp>
        <p:nvSpPr>
          <p:cNvPr id="106" name="Google Shape;106;g3b231148605_0_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Link to the table</a:t>
            </a:r>
            <a:r>
              <a:rPr lang="en-US"/>
              <a:t> in the same folder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e5332699_1_0"/>
          <p:cNvSpPr txBox="1"/>
          <p:nvPr>
            <p:ph type="ctrTitle"/>
          </p:nvPr>
        </p:nvSpPr>
        <p:spPr>
          <a:xfrm>
            <a:off x="713850" y="320293"/>
            <a:ext cx="9144000" cy="100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identifying E.coli</a:t>
            </a:r>
            <a:endParaRPr/>
          </a:p>
        </p:txBody>
      </p:sp>
      <p:sp>
        <p:nvSpPr>
          <p:cNvPr id="112" name="Google Shape;112;g3aae5332699_1_0"/>
          <p:cNvSpPr/>
          <p:nvPr/>
        </p:nvSpPr>
        <p:spPr>
          <a:xfrm>
            <a:off x="2637700" y="2298023"/>
            <a:ext cx="5331900" cy="65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Gram staining: </a:t>
            </a:r>
            <a:r>
              <a:rPr lang="en-US" sz="2400"/>
              <a:t>Gram negative bacilli</a:t>
            </a:r>
            <a:endParaRPr sz="2700"/>
          </a:p>
        </p:txBody>
      </p:sp>
      <p:sp>
        <p:nvSpPr>
          <p:cNvPr id="113" name="Google Shape;113;g3aae5332699_1_0"/>
          <p:cNvSpPr/>
          <p:nvPr/>
        </p:nvSpPr>
        <p:spPr>
          <a:xfrm>
            <a:off x="2637700" y="3271323"/>
            <a:ext cx="5520300" cy="8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Selective media: Grow and ferment on MacConkey</a:t>
            </a:r>
            <a:endParaRPr sz="2700"/>
          </a:p>
        </p:txBody>
      </p:sp>
      <p:sp>
        <p:nvSpPr>
          <p:cNvPr id="114" name="Google Shape;114;g3aae5332699_1_0"/>
          <p:cNvSpPr/>
          <p:nvPr/>
        </p:nvSpPr>
        <p:spPr>
          <a:xfrm>
            <a:off x="1752187" y="4524973"/>
            <a:ext cx="2995800" cy="56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Citrate negative</a:t>
            </a:r>
            <a:endParaRPr sz="2700"/>
          </a:p>
        </p:txBody>
      </p:sp>
      <p:sp>
        <p:nvSpPr>
          <p:cNvPr id="115" name="Google Shape;115;g3aae5332699_1_0"/>
          <p:cNvSpPr/>
          <p:nvPr/>
        </p:nvSpPr>
        <p:spPr>
          <a:xfrm>
            <a:off x="4808452" y="4457923"/>
            <a:ext cx="2445300" cy="65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MR positive</a:t>
            </a:r>
            <a:endParaRPr sz="2700"/>
          </a:p>
        </p:txBody>
      </p:sp>
      <p:sp>
        <p:nvSpPr>
          <p:cNvPr id="116" name="Google Shape;116;g3aae5332699_1_0"/>
          <p:cNvSpPr/>
          <p:nvPr/>
        </p:nvSpPr>
        <p:spPr>
          <a:xfrm>
            <a:off x="7314249" y="4476223"/>
            <a:ext cx="2731800" cy="65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Indole positive</a:t>
            </a:r>
            <a:endParaRPr sz="2700"/>
          </a:p>
        </p:txBody>
      </p:sp>
      <p:sp>
        <p:nvSpPr>
          <p:cNvPr id="117" name="Google Shape;117;g3aae5332699_1_0"/>
          <p:cNvSpPr/>
          <p:nvPr/>
        </p:nvSpPr>
        <p:spPr>
          <a:xfrm>
            <a:off x="772474" y="2468123"/>
            <a:ext cx="301500" cy="4107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ae5332699_1_0"/>
          <p:cNvSpPr txBox="1"/>
          <p:nvPr/>
        </p:nvSpPr>
        <p:spPr>
          <a:xfrm rot="-5400000">
            <a:off x="-2189194" y="3874854"/>
            <a:ext cx="526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Identify in this order of test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9" name="Google Shape;119;g3aae5332699_1_0"/>
          <p:cNvSpPr/>
          <p:nvPr/>
        </p:nvSpPr>
        <p:spPr>
          <a:xfrm>
            <a:off x="9857850" y="2298023"/>
            <a:ext cx="1808700" cy="561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Level 1 test</a:t>
            </a:r>
            <a:endParaRPr sz="2000"/>
          </a:p>
        </p:txBody>
      </p:sp>
      <p:sp>
        <p:nvSpPr>
          <p:cNvPr id="120" name="Google Shape;120;g3aae5332699_1_0"/>
          <p:cNvSpPr/>
          <p:nvPr/>
        </p:nvSpPr>
        <p:spPr>
          <a:xfrm>
            <a:off x="9558100" y="3387123"/>
            <a:ext cx="1808700" cy="561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Level 2 test</a:t>
            </a:r>
            <a:endParaRPr sz="2000"/>
          </a:p>
        </p:txBody>
      </p:sp>
      <p:sp>
        <p:nvSpPr>
          <p:cNvPr id="121" name="Google Shape;121;g3aae5332699_1_0"/>
          <p:cNvSpPr/>
          <p:nvPr/>
        </p:nvSpPr>
        <p:spPr>
          <a:xfrm>
            <a:off x="10106550" y="4476223"/>
            <a:ext cx="2085300" cy="1571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Level 3 test: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Students can choose any of these in any order</a:t>
            </a:r>
            <a:endParaRPr sz="2000"/>
          </a:p>
        </p:txBody>
      </p:sp>
      <p:pic>
        <p:nvPicPr>
          <p:cNvPr id="122" name="Google Shape;122;g3aae5332699_1_0" title="Screenshot 2025-12-19 at 6.55.53 PM.png"/>
          <p:cNvPicPr preferRelativeResize="0"/>
          <p:nvPr/>
        </p:nvPicPr>
        <p:blipFill rotWithShape="1">
          <a:blip r:embed="rId3">
            <a:alphaModFix/>
          </a:blip>
          <a:srcRect b="0" l="4076" r="0" t="0"/>
          <a:stretch/>
        </p:blipFill>
        <p:spPr>
          <a:xfrm>
            <a:off x="209550" y="1602475"/>
            <a:ext cx="11951299" cy="3490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e5332699_2_2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 is how student would see the UI</a:t>
            </a:r>
            <a:endParaRPr/>
          </a:p>
        </p:txBody>
      </p:sp>
      <p:sp>
        <p:nvSpPr>
          <p:cNvPr id="128" name="Google Shape;128;g3aae5332699_2_2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>
            <p:ph type="title"/>
          </p:nvPr>
        </p:nvSpPr>
        <p:spPr>
          <a:xfrm>
            <a:off x="890338" y="640080"/>
            <a:ext cx="3734014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Here is your sample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890338" y="4409267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PS Question" id="136" name="Google Shape;136;p2"/>
          <p:cNvPicPr preferRelativeResize="0"/>
          <p:nvPr/>
        </p:nvPicPr>
        <p:blipFill rotWithShape="1">
          <a:blip r:embed="rId3">
            <a:alphaModFix/>
          </a:blip>
          <a:srcRect b="0" l="4413" r="4677" t="0"/>
          <a:stretch/>
        </p:blipFill>
        <p:spPr>
          <a:xfrm>
            <a:off x="5311702" y="10"/>
            <a:ext cx="6878775" cy="6857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890338" y="4859867"/>
            <a:ext cx="1971395" cy="62246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Gram stain</a:t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890338" y="5858006"/>
            <a:ext cx="1971395" cy="62246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Streak TSA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First  page test: Gram stain result</a:t>
            </a:r>
            <a:endParaRPr/>
          </a:p>
        </p:txBody>
      </p:sp>
      <p:pic>
        <p:nvPicPr>
          <p:cNvPr descr="Gram-negative bacteria - Wikipedia" id="144" name="Google Shape;1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7933" y="1521884"/>
            <a:ext cx="6350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"/>
          <p:cNvSpPr/>
          <p:nvPr/>
        </p:nvSpPr>
        <p:spPr>
          <a:xfrm>
            <a:off x="8847666" y="2032000"/>
            <a:ext cx="1971395" cy="62246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 back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8847666" y="3011295"/>
            <a:ext cx="1971395" cy="62246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Selective media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First page test result: TSA result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8847666" y="2032000"/>
            <a:ext cx="1971395" cy="62246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 back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8847679" y="3011300"/>
            <a:ext cx="27582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Selective media</a:t>
            </a:r>
            <a:endParaRPr sz="2000"/>
          </a:p>
        </p:txBody>
      </p:sp>
      <p:pic>
        <p:nvPicPr>
          <p:cNvPr descr="Solved Photo # 6 E. coli Photo # 7 E. coli E. | Chegg.com" id="154" name="Google Shape;1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8774" y="1808675"/>
            <a:ext cx="3518350" cy="46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3900"/>
              <a:t>Second level selective media: </a:t>
            </a:r>
            <a:endParaRPr sz="3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3900"/>
              <a:t>Choose one to find the result</a:t>
            </a:r>
            <a:endParaRPr sz="3900"/>
          </a:p>
        </p:txBody>
      </p:sp>
      <p:sp>
        <p:nvSpPr>
          <p:cNvPr id="160" name="Google Shape;160;p5"/>
          <p:cNvSpPr/>
          <p:nvPr/>
        </p:nvSpPr>
        <p:spPr>
          <a:xfrm>
            <a:off x="2064316" y="2682524"/>
            <a:ext cx="3192000" cy="1493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MacConkey Agar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6741143" y="2682599"/>
            <a:ext cx="3192000" cy="1493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Mannitol Salt  Agar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924300" y="5275375"/>
            <a:ext cx="10983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** if they choose Mannitol salt agar (MSA) it would say incorrect choice. It would move further only if they choose MacConkey Agar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>
            <p:ph type="title"/>
          </p:nvPr>
        </p:nvSpPr>
        <p:spPr>
          <a:xfrm>
            <a:off x="303450" y="327450"/>
            <a:ext cx="11698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Second level result: MacConkey Agar result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8847666" y="2032000"/>
            <a:ext cx="1971395" cy="62246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 back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8847665" y="3117766"/>
            <a:ext cx="1971395" cy="62246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Further test</a:t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8847666" y="4203532"/>
            <a:ext cx="1971395" cy="62246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 the organism</a:t>
            </a:r>
            <a:endParaRPr/>
          </a:p>
        </p:txBody>
      </p:sp>
      <p:pic>
        <p:nvPicPr>
          <p:cNvPr id="171" name="Google Shape;171;p6" title="E.coli  or Citrobacter freundii on MacConkey.HEIC"/>
          <p:cNvPicPr preferRelativeResize="0"/>
          <p:nvPr/>
        </p:nvPicPr>
        <p:blipFill rotWithShape="1">
          <a:blip r:embed="rId3">
            <a:alphaModFix/>
          </a:blip>
          <a:srcRect b="15047" l="0" r="0" t="9599"/>
          <a:stretch/>
        </p:blipFill>
        <p:spPr>
          <a:xfrm>
            <a:off x="2985450" y="2032000"/>
            <a:ext cx="3678401" cy="369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e5332699_2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3rd level Further tests: Biochemical tests</a:t>
            </a:r>
            <a:endParaRPr/>
          </a:p>
        </p:txBody>
      </p:sp>
      <p:sp>
        <p:nvSpPr>
          <p:cNvPr id="177" name="Google Shape;177;g3aae5332699_2_15"/>
          <p:cNvSpPr/>
          <p:nvPr/>
        </p:nvSpPr>
        <p:spPr>
          <a:xfrm>
            <a:off x="1537505" y="2119225"/>
            <a:ext cx="30030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Citrate test</a:t>
            </a:r>
            <a:endParaRPr sz="2900"/>
          </a:p>
        </p:txBody>
      </p:sp>
      <p:sp>
        <p:nvSpPr>
          <p:cNvPr id="178" name="Google Shape;178;g3aae5332699_2_15"/>
          <p:cNvSpPr/>
          <p:nvPr/>
        </p:nvSpPr>
        <p:spPr>
          <a:xfrm>
            <a:off x="2236265" y="3170129"/>
            <a:ext cx="19713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Urea test</a:t>
            </a:r>
            <a:endParaRPr sz="2900"/>
          </a:p>
        </p:txBody>
      </p:sp>
      <p:sp>
        <p:nvSpPr>
          <p:cNvPr id="179" name="Google Shape;179;g3aae5332699_2_15"/>
          <p:cNvSpPr/>
          <p:nvPr/>
        </p:nvSpPr>
        <p:spPr>
          <a:xfrm>
            <a:off x="2369815" y="4221016"/>
            <a:ext cx="19713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VP test</a:t>
            </a:r>
            <a:endParaRPr sz="2900"/>
          </a:p>
        </p:txBody>
      </p:sp>
      <p:sp>
        <p:nvSpPr>
          <p:cNvPr id="180" name="Google Shape;180;g3aae5332699_2_15"/>
          <p:cNvSpPr/>
          <p:nvPr/>
        </p:nvSpPr>
        <p:spPr>
          <a:xfrm>
            <a:off x="7235740" y="4309766"/>
            <a:ext cx="19713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MR test</a:t>
            </a:r>
            <a:endParaRPr sz="2900"/>
          </a:p>
        </p:txBody>
      </p:sp>
      <p:sp>
        <p:nvSpPr>
          <p:cNvPr id="181" name="Google Shape;181;g3aae5332699_2_15"/>
          <p:cNvSpPr/>
          <p:nvPr/>
        </p:nvSpPr>
        <p:spPr>
          <a:xfrm>
            <a:off x="6873954" y="3131851"/>
            <a:ext cx="26949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TSI Ferment</a:t>
            </a:r>
            <a:endParaRPr sz="2900"/>
          </a:p>
        </p:txBody>
      </p:sp>
      <p:sp>
        <p:nvSpPr>
          <p:cNvPr id="182" name="Google Shape;182;g3aae5332699_2_15"/>
          <p:cNvSpPr/>
          <p:nvPr/>
        </p:nvSpPr>
        <p:spPr>
          <a:xfrm>
            <a:off x="7122690" y="2100079"/>
            <a:ext cx="19713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TSI H2S</a:t>
            </a:r>
            <a:endParaRPr sz="2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e5d735f69_0_8"/>
          <p:cNvSpPr txBox="1"/>
          <p:nvPr>
            <p:ph type="title"/>
          </p:nvPr>
        </p:nvSpPr>
        <p:spPr>
          <a:xfrm>
            <a:off x="838200" y="365125"/>
            <a:ext cx="33822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Citrate test</a:t>
            </a:r>
            <a:endParaRPr/>
          </a:p>
        </p:txBody>
      </p:sp>
      <p:pic>
        <p:nvPicPr>
          <p:cNvPr id="188" name="Google Shape;188;g31e5d735f69_0_8" title="Screenshot 2025-04-22 at 10.22.37 AM.png"/>
          <p:cNvPicPr preferRelativeResize="0"/>
          <p:nvPr/>
        </p:nvPicPr>
        <p:blipFill rotWithShape="1">
          <a:blip r:embed="rId3">
            <a:alphaModFix/>
          </a:blip>
          <a:srcRect b="4789" l="0" r="55140" t="0"/>
          <a:stretch/>
        </p:blipFill>
        <p:spPr>
          <a:xfrm>
            <a:off x="1791525" y="1690825"/>
            <a:ext cx="1486725" cy="47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e5d735f69_0_8"/>
          <p:cNvSpPr/>
          <p:nvPr/>
        </p:nvSpPr>
        <p:spPr>
          <a:xfrm>
            <a:off x="8207066" y="3374532"/>
            <a:ext cx="19713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 the organism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ae537a558_0_1"/>
          <p:cNvSpPr txBox="1"/>
          <p:nvPr>
            <p:ph type="title"/>
          </p:nvPr>
        </p:nvSpPr>
        <p:spPr>
          <a:xfrm>
            <a:off x="4559550" y="365125"/>
            <a:ext cx="24681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MR test</a:t>
            </a:r>
            <a:endParaRPr/>
          </a:p>
        </p:txBody>
      </p:sp>
      <p:pic>
        <p:nvPicPr>
          <p:cNvPr id="195" name="Google Shape;195;g3aae537a558_0_1" title="Screenshot 2025-04-22 at 10.38.58 AM.png"/>
          <p:cNvPicPr preferRelativeResize="0"/>
          <p:nvPr/>
        </p:nvPicPr>
        <p:blipFill rotWithShape="1">
          <a:blip r:embed="rId3">
            <a:alphaModFix/>
          </a:blip>
          <a:srcRect b="0" l="0" r="47476" t="0"/>
          <a:stretch/>
        </p:blipFill>
        <p:spPr>
          <a:xfrm>
            <a:off x="4682325" y="1590425"/>
            <a:ext cx="2222550" cy="497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aae537a558_0_1"/>
          <p:cNvSpPr/>
          <p:nvPr/>
        </p:nvSpPr>
        <p:spPr>
          <a:xfrm>
            <a:off x="8207066" y="3374532"/>
            <a:ext cx="19713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 the organism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ae537a558_0_6"/>
          <p:cNvSpPr txBox="1"/>
          <p:nvPr>
            <p:ph type="title"/>
          </p:nvPr>
        </p:nvSpPr>
        <p:spPr>
          <a:xfrm>
            <a:off x="1375575" y="724800"/>
            <a:ext cx="3183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Indole test</a:t>
            </a:r>
            <a:endParaRPr/>
          </a:p>
        </p:txBody>
      </p:sp>
      <p:pic>
        <p:nvPicPr>
          <p:cNvPr id="202" name="Google Shape;202;g3aae537a558_0_6"/>
          <p:cNvPicPr preferRelativeResize="0"/>
          <p:nvPr/>
        </p:nvPicPr>
        <p:blipFill rotWithShape="1">
          <a:blip r:embed="rId3">
            <a:alphaModFix/>
          </a:blip>
          <a:srcRect b="9486" l="15561" r="52993" t="13454"/>
          <a:stretch/>
        </p:blipFill>
        <p:spPr>
          <a:xfrm>
            <a:off x="1205500" y="1916925"/>
            <a:ext cx="2788700" cy="399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aae537a558_0_6"/>
          <p:cNvSpPr/>
          <p:nvPr/>
        </p:nvSpPr>
        <p:spPr>
          <a:xfrm>
            <a:off x="8207066" y="3374532"/>
            <a:ext cx="1971300" cy="62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 the organism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ae5332699_2_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 the organism: Would list them all</a:t>
            </a:r>
            <a:endParaRPr/>
          </a:p>
        </p:txBody>
      </p:sp>
      <p:sp>
        <p:nvSpPr>
          <p:cNvPr id="209" name="Google Shape;209;g3aae5332699_2_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Gram negatives are the only ones listed in this page since the Slide 5 was the pink organisms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** Gram positive organisms (lower level of the table) would be only listed if Slide 5 was the purple colored gram stain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2024-12-11T23:08:00Z</dcterms:created>
  <dc:creator>Vasudha Sundaravaradan</dc:creator>
</cp:coreProperties>
</file>