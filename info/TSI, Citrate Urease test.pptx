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e436f00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e436f00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e436f008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e436f008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e436f008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e436f008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e436f00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e436f00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e436f008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e436f008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b9b6c8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db9b6c8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sm.org/getmedia/40946f85-9357-4563-aa8a-994427efa825/methyl-red-and-voges-proskauer-test-protocols.pdf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sm.org/getattachment/ac4fe214-106d-407c-b6c6-e3bb49ac6ffb/urease-test-protocol-3223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TSI, Citrate, Urease, MR and Indole test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MR test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21400" y="955475"/>
            <a:ext cx="852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organism that show a </a:t>
            </a:r>
            <a:r>
              <a:rPr lang="en"/>
              <a:t>positive MR test</a:t>
            </a:r>
            <a:r>
              <a:rPr lang="en"/>
              <a:t> look similar.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organisms that show a negative test look similar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3110825" y="2661525"/>
            <a:ext cx="500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https://asm.org/getmedia/40946f85-9357-4563-aa8a-994427efa825/methyl-red-and-voges-proskauer-test-protocols.pdf</a:t>
            </a:r>
            <a:r>
              <a:rPr lang="en" sz="1000"/>
              <a:t> </a:t>
            </a:r>
            <a:endParaRPr sz="1000"/>
          </a:p>
        </p:txBody>
      </p:sp>
      <p:sp>
        <p:nvSpPr>
          <p:cNvPr id="63" name="Google Shape;63;p14"/>
          <p:cNvSpPr txBox="1"/>
          <p:nvPr/>
        </p:nvSpPr>
        <p:spPr>
          <a:xfrm>
            <a:off x="2996025" y="2199825"/>
            <a:ext cx="472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Source for the images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 title="Screenshot 2025-04-22 at 10.38.5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7575"/>
            <a:ext cx="2165900" cy="254431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67850" y="4551875"/>
            <a:ext cx="279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Positive</a:t>
            </a:r>
            <a:r>
              <a:rPr lang="en" sz="1100">
                <a:solidFill>
                  <a:schemeClr val="dk2"/>
                </a:solidFill>
              </a:rPr>
              <a:t> on the left, negative on the right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258750" y="3652675"/>
            <a:ext cx="5573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test can use a diagram like you </a:t>
            </a:r>
            <a:r>
              <a:rPr lang="en" sz="1800">
                <a:solidFill>
                  <a:schemeClr val="dk2"/>
                </a:solidFill>
              </a:rPr>
              <a:t>have</a:t>
            </a:r>
            <a:r>
              <a:rPr lang="en" sz="1800">
                <a:solidFill>
                  <a:schemeClr val="dk2"/>
                </a:solidFill>
              </a:rPr>
              <a:t> been using: just a test tube with reddish orange (for positive) or </a:t>
            </a:r>
            <a:r>
              <a:rPr lang="en" sz="1800">
                <a:solidFill>
                  <a:schemeClr val="dk2"/>
                </a:solidFill>
              </a:rPr>
              <a:t>mustard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yellow liquid (for negative)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Indole test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221400" y="955475"/>
            <a:ext cx="852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 positive test look similar (red ring on top). All negative tests look similar ( a oily ring that is not red, reflects the yellow  below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2380500" y="4648850"/>
            <a:ext cx="6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https://microbiologyinfo.com/indole-test-principle-reagents-procedure-result-interpretation-and-limitations/</a:t>
            </a:r>
            <a:endParaRPr sz="100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46" y="1776175"/>
            <a:ext cx="4728001" cy="2762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Citrate test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221400" y="955475"/>
            <a:ext cx="852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citrate organism that show a positive test look similar.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organisms that show a negative organisms look similar</a:t>
            </a:r>
            <a:endParaRPr/>
          </a:p>
        </p:txBody>
      </p:sp>
      <p:pic>
        <p:nvPicPr>
          <p:cNvPr id="81" name="Google Shape;81;p16" title="Screenshot 2025-04-22 at 10.22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7575"/>
            <a:ext cx="1973717" cy="29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470700" y="4159800"/>
            <a:ext cx="6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https://microbiologyinfo.com/citrate-utilization-test-principle-media-procedure-and-result/</a:t>
            </a:r>
            <a:endParaRPr sz="1000"/>
          </a:p>
        </p:txBody>
      </p:sp>
      <p:sp>
        <p:nvSpPr>
          <p:cNvPr id="83" name="Google Shape;83;p16"/>
          <p:cNvSpPr txBox="1"/>
          <p:nvPr/>
        </p:nvSpPr>
        <p:spPr>
          <a:xfrm>
            <a:off x="2823650" y="3258675"/>
            <a:ext cx="472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Source for the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Urease test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organism in our list that show a positive test look similar.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organisms that show a negative organisms look similar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7"/>
          <p:cNvGrpSpPr/>
          <p:nvPr/>
        </p:nvGrpSpPr>
        <p:grpSpPr>
          <a:xfrm>
            <a:off x="1307800" y="1972375"/>
            <a:ext cx="1376300" cy="2800350"/>
            <a:chOff x="1307800" y="1972375"/>
            <a:chExt cx="1376300" cy="2800350"/>
          </a:xfrm>
        </p:grpSpPr>
        <p:pic>
          <p:nvPicPr>
            <p:cNvPr id="91" name="Google Shape;91;p17" title="Screenshot 2025-04-22 at 10.24.16 AM.png"/>
            <p:cNvPicPr preferRelativeResize="0"/>
            <p:nvPr/>
          </p:nvPicPr>
          <p:blipFill rotWithShape="1">
            <a:blip r:embed="rId3">
              <a:alphaModFix/>
            </a:blip>
            <a:srcRect b="0" l="26226" r="47358" t="0"/>
            <a:stretch/>
          </p:blipFill>
          <p:spPr>
            <a:xfrm>
              <a:off x="2027425" y="1972375"/>
              <a:ext cx="656675" cy="2800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7" title="Screenshot 2025-04-22 at 10.24.16 AM.png"/>
            <p:cNvPicPr preferRelativeResize="0"/>
            <p:nvPr/>
          </p:nvPicPr>
          <p:blipFill rotWithShape="1">
            <a:blip r:embed="rId3">
              <a:alphaModFix/>
            </a:blip>
            <a:srcRect b="0" l="75566" r="0" t="0"/>
            <a:stretch/>
          </p:blipFill>
          <p:spPr>
            <a:xfrm>
              <a:off x="1307800" y="1972375"/>
              <a:ext cx="607425" cy="2800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7"/>
          <p:cNvSpPr txBox="1"/>
          <p:nvPr/>
        </p:nvSpPr>
        <p:spPr>
          <a:xfrm>
            <a:off x="1249913" y="4344575"/>
            <a:ext cx="10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negative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2027413" y="4344575"/>
            <a:ext cx="10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posi</a:t>
            </a:r>
            <a:r>
              <a:rPr lang="en" sz="1200">
                <a:solidFill>
                  <a:schemeClr val="dk2"/>
                </a:solidFill>
              </a:rPr>
              <a:t>tive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455675" y="3578800"/>
            <a:ext cx="49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https://asm.org/getattachment/ac4fe214-106d-407c-b6c6-e3bb49ac6ffb/urease-test-protocol-3223.pdf</a:t>
            </a: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TSIA: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922650"/>
            <a:ext cx="85206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test is challenging to interpret with only a </a:t>
            </a:r>
            <a:r>
              <a:rPr lang="en"/>
              <a:t>positive/negative choice since there are many nuances</a:t>
            </a:r>
            <a:r>
              <a:rPr lang="en"/>
              <a:t>. The </a:t>
            </a:r>
            <a:r>
              <a:rPr lang="en"/>
              <a:t>positive</a:t>
            </a:r>
            <a:r>
              <a:rPr lang="en"/>
              <a:t> negative scheme can work with TSI H2S (+/-),  and TSI gas (+/-) as shown in the table list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26138" r="49156" t="0"/>
          <a:stretch/>
        </p:blipFill>
        <p:spPr>
          <a:xfrm>
            <a:off x="6853899" y="1663825"/>
            <a:ext cx="1034250" cy="28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51373" r="26470" t="0"/>
          <a:stretch/>
        </p:blipFill>
        <p:spPr>
          <a:xfrm>
            <a:off x="5865349" y="1663825"/>
            <a:ext cx="927525" cy="28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2692325" y="3201250"/>
            <a:ext cx="32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https://microbiologyinfo.com/triple-sugar-iron-tsi-test/</a:t>
            </a:r>
            <a:endParaRPr sz="1000"/>
          </a:p>
        </p:txBody>
      </p:sp>
      <p:grpSp>
        <p:nvGrpSpPr>
          <p:cNvPr id="105" name="Google Shape;105;p18"/>
          <p:cNvGrpSpPr/>
          <p:nvPr/>
        </p:nvGrpSpPr>
        <p:grpSpPr>
          <a:xfrm>
            <a:off x="566374" y="1663825"/>
            <a:ext cx="2190589" cy="2893325"/>
            <a:chOff x="566374" y="1663825"/>
            <a:chExt cx="2190589" cy="2893325"/>
          </a:xfrm>
        </p:grpSpPr>
        <p:pic>
          <p:nvPicPr>
            <p:cNvPr id="106" name="Google Shape;106;p18"/>
            <p:cNvPicPr preferRelativeResize="0"/>
            <p:nvPr/>
          </p:nvPicPr>
          <p:blipFill rotWithShape="1">
            <a:blip r:embed="rId3">
              <a:alphaModFix/>
            </a:blip>
            <a:srcRect b="0" l="0" r="73836" t="0"/>
            <a:stretch/>
          </p:blipFill>
          <p:spPr>
            <a:xfrm>
              <a:off x="1593339" y="1663825"/>
              <a:ext cx="1095276" cy="289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8"/>
            <p:cNvPicPr preferRelativeResize="0"/>
            <p:nvPr/>
          </p:nvPicPr>
          <p:blipFill rotWithShape="1">
            <a:blip r:embed="rId3">
              <a:alphaModFix/>
            </a:blip>
            <a:srcRect b="0" l="51373" r="26470" t="0"/>
            <a:stretch/>
          </p:blipFill>
          <p:spPr>
            <a:xfrm>
              <a:off x="566374" y="1663825"/>
              <a:ext cx="927525" cy="289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8"/>
            <p:cNvSpPr txBox="1"/>
            <p:nvPr/>
          </p:nvSpPr>
          <p:spPr>
            <a:xfrm>
              <a:off x="566375" y="3581900"/>
              <a:ext cx="1095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Negative gas</a:t>
              </a:r>
              <a:endParaRPr sz="12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No acid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1661663" y="3732800"/>
              <a:ext cx="1095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positive</a:t>
              </a:r>
              <a:r>
                <a:rPr lang="en" sz="1200">
                  <a:solidFill>
                    <a:schemeClr val="dk2"/>
                  </a:solidFill>
                </a:rPr>
                <a:t> gas</a:t>
              </a:r>
              <a:endParaRPr sz="12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</a:rPr>
                <a:t>Acid positive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110" name="Google Shape;110;p18"/>
          <p:cNvSpPr txBox="1"/>
          <p:nvPr/>
        </p:nvSpPr>
        <p:spPr>
          <a:xfrm>
            <a:off x="5959326" y="3581900"/>
            <a:ext cx="92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No H</a:t>
            </a:r>
            <a:r>
              <a:rPr baseline="-25000" lang="en" sz="1200">
                <a:solidFill>
                  <a:schemeClr val="dk2"/>
                </a:solidFill>
              </a:rPr>
              <a:t>2</a:t>
            </a:r>
            <a:r>
              <a:rPr lang="en" sz="1200">
                <a:solidFill>
                  <a:schemeClr val="dk2"/>
                </a:solidFill>
              </a:rPr>
              <a:t>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886925" y="3825200"/>
            <a:ext cx="10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positive</a:t>
            </a:r>
            <a:r>
              <a:rPr lang="en" sz="1200">
                <a:solidFill>
                  <a:schemeClr val="dk2"/>
                </a:solidFill>
              </a:rPr>
              <a:t> H</a:t>
            </a:r>
            <a:r>
              <a:rPr baseline="-25000" lang="en" sz="1200">
                <a:solidFill>
                  <a:schemeClr val="dk2"/>
                </a:solidFill>
              </a:rPr>
              <a:t>2</a:t>
            </a:r>
            <a:r>
              <a:rPr lang="en" sz="1200">
                <a:solidFill>
                  <a:schemeClr val="dk2"/>
                </a:solidFill>
              </a:rPr>
              <a:t>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 title="Screenshot 2025-04-22 at 10.24.16 AM.png"/>
          <p:cNvPicPr preferRelativeResize="0"/>
          <p:nvPr/>
        </p:nvPicPr>
        <p:blipFill rotWithShape="1">
          <a:blip r:embed="rId3">
            <a:alphaModFix/>
          </a:blip>
          <a:srcRect b="0" l="26226" r="47358" t="33954"/>
          <a:stretch/>
        </p:blipFill>
        <p:spPr>
          <a:xfrm>
            <a:off x="991087" y="3044612"/>
            <a:ext cx="656675" cy="18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Screenshot 2025-04-22 at 10.24.16 AM.png"/>
          <p:cNvPicPr preferRelativeResize="0"/>
          <p:nvPr/>
        </p:nvPicPr>
        <p:blipFill rotWithShape="1">
          <a:blip r:embed="rId3">
            <a:alphaModFix/>
          </a:blip>
          <a:srcRect b="0" l="75566" r="0" t="33954"/>
          <a:stretch/>
        </p:blipFill>
        <p:spPr>
          <a:xfrm>
            <a:off x="387775" y="3044612"/>
            <a:ext cx="607425" cy="18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19"/>
          <p:cNvGrpSpPr/>
          <p:nvPr/>
        </p:nvGrpSpPr>
        <p:grpSpPr>
          <a:xfrm>
            <a:off x="2416266" y="2959849"/>
            <a:ext cx="1628938" cy="1780402"/>
            <a:chOff x="7026141" y="2007574"/>
            <a:chExt cx="1628938" cy="1780402"/>
          </a:xfrm>
        </p:grpSpPr>
        <p:pic>
          <p:nvPicPr>
            <p:cNvPr id="119" name="Google Shape;119;p19"/>
            <p:cNvPicPr preferRelativeResize="0"/>
            <p:nvPr/>
          </p:nvPicPr>
          <p:blipFill rotWithShape="1">
            <a:blip r:embed="rId4">
              <a:alphaModFix/>
            </a:blip>
            <a:srcRect b="0" l="4008" r="73835" t="21148"/>
            <a:stretch/>
          </p:blipFill>
          <p:spPr>
            <a:xfrm>
              <a:off x="7869026" y="2007575"/>
              <a:ext cx="723825" cy="178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9"/>
            <p:cNvPicPr preferRelativeResize="0"/>
            <p:nvPr/>
          </p:nvPicPr>
          <p:blipFill rotWithShape="1">
            <a:blip r:embed="rId4">
              <a:alphaModFix/>
            </a:blip>
            <a:srcRect b="0" l="51374" r="26469" t="21148"/>
            <a:stretch/>
          </p:blipFill>
          <p:spPr>
            <a:xfrm>
              <a:off x="7026150" y="2007574"/>
              <a:ext cx="723825" cy="178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9"/>
            <p:cNvSpPr txBox="1"/>
            <p:nvPr/>
          </p:nvSpPr>
          <p:spPr>
            <a:xfrm>
              <a:off x="7026141" y="3026885"/>
              <a:ext cx="854772" cy="432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350" lIns="71350" spcFirstLastPara="1" rIns="71350" wrap="square" tIns="713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6">
                  <a:solidFill>
                    <a:schemeClr val="dk2"/>
                  </a:solidFill>
                </a:rPr>
                <a:t>Negative gas</a:t>
              </a:r>
              <a:endParaRPr sz="936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6">
                  <a:solidFill>
                    <a:schemeClr val="dk2"/>
                  </a:solidFill>
                </a:rPr>
                <a:t>No acid</a:t>
              </a:r>
              <a:endParaRPr sz="936">
                <a:solidFill>
                  <a:schemeClr val="dk2"/>
                </a:solidFill>
              </a:endParaRPr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7800379" y="3144647"/>
              <a:ext cx="854700" cy="4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1350" lIns="71350" spcFirstLastPara="1" rIns="71350" wrap="square" tIns="713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6">
                  <a:solidFill>
                    <a:schemeClr val="dk2"/>
                  </a:solidFill>
                </a:rPr>
                <a:t>positive gas</a:t>
              </a:r>
              <a:endParaRPr sz="936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6">
                  <a:solidFill>
                    <a:schemeClr val="dk2"/>
                  </a:solidFill>
                </a:rPr>
                <a:t>Acid positive</a:t>
              </a:r>
              <a:endParaRPr sz="936">
                <a:solidFill>
                  <a:schemeClr val="dk2"/>
                </a:solidFill>
              </a:endParaRPr>
            </a:p>
          </p:txBody>
        </p:sp>
      </p:grpSp>
      <p:sp>
        <p:nvSpPr>
          <p:cNvPr id="123" name="Google Shape;123;p19"/>
          <p:cNvSpPr txBox="1"/>
          <p:nvPr/>
        </p:nvSpPr>
        <p:spPr>
          <a:xfrm>
            <a:off x="286375" y="4555388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negative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904025" y="4555388"/>
            <a:ext cx="68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posi</a:t>
            </a:r>
            <a:r>
              <a:rPr lang="en" sz="1000">
                <a:solidFill>
                  <a:schemeClr val="dk2"/>
                </a:solidFill>
              </a:rPr>
              <a:t>tive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25" name="Google Shape;125;p19" title="Screenshot 2025-04-22 at 10.38.5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300" y="375313"/>
            <a:ext cx="1574400" cy="18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 rotWithShape="1">
          <a:blip r:embed="rId6">
            <a:alphaModFix/>
          </a:blip>
          <a:srcRect b="0" l="18863" r="20012" t="0"/>
          <a:stretch/>
        </p:blipFill>
        <p:spPr>
          <a:xfrm>
            <a:off x="3730950" y="448250"/>
            <a:ext cx="1862274" cy="17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 title="Screenshot 2025-04-22 at 10.22.37 AM.png"/>
          <p:cNvPicPr preferRelativeResize="0"/>
          <p:nvPr/>
        </p:nvPicPr>
        <p:blipFill rotWithShape="1">
          <a:blip r:embed="rId7">
            <a:alphaModFix/>
          </a:blip>
          <a:srcRect b="0" l="0" r="0" t="25378"/>
          <a:stretch/>
        </p:blipFill>
        <p:spPr>
          <a:xfrm>
            <a:off x="5763200" y="450454"/>
            <a:ext cx="1574400" cy="17759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429475" y="2167250"/>
            <a:ext cx="68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MR Test           VP test                  Indole test                Citrate test     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8">
            <a:alphaModFix/>
          </a:blip>
          <a:srcRect b="0" l="0" r="46420" t="0"/>
          <a:stretch/>
        </p:blipFill>
        <p:spPr>
          <a:xfrm>
            <a:off x="1790899" y="432850"/>
            <a:ext cx="1770076" cy="1734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